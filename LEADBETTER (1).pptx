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2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56" d="100"/>
          <a:sy n="56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Relationship Id="rId3" Type="http://schemas.openxmlformats.org/officeDocument/2006/relationships/image" Target="../media/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3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4.jpe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92461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34892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00804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44582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417990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8489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56005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0285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09059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027425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95767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9" name="图片" descr="logo_full.png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7818120" y="2331720"/>
            <a:ext cx="3108960" cy="310896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09799410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685800" y="502919"/>
            <a:ext cx="1060704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/>
            <a:r>
              <a:rPr lang="en-US" altLang="zh-CN" sz="3200" b="1">
                <a:solidFill>
                  <a:srgbClr val="0B1220"/>
                </a:solidFill>
              </a:rPr>
              <a:t>Slide title</a:t>
            </a:r>
            <a:endParaRPr lang="zh-CN" altLang="en-US" sz="3200" b="1">
              <a:solidFill>
                <a:srgbClr val="0B1220"/>
              </a:solidFill>
            </a:endParaRPr>
          </a:p>
        </p:txBody>
      </p:sp>
      <p:sp>
        <p:nvSpPr>
          <p:cNvPr id="24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685800" y="1508759"/>
            <a:ext cx="10424161" cy="448056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1800">
                <a:solidFill>
                  <a:srgbClr val="1B2A4A"/>
                </a:solidFill>
              </a:rPr>
              <a:t>Add your content here</a:t>
            </a:r>
            <a:endParaRPr lang="zh-CN" altLang="en-US" sz="1800">
              <a:solidFill>
                <a:srgbClr val="1B2A4A"/>
              </a:solidFill>
            </a:endParaRPr>
          </a:p>
        </p:txBody>
      </p:sp>
      <p:sp>
        <p:nvSpPr>
          <p:cNvPr id="25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11292840" y="6400800"/>
            <a:ext cx="548639" cy="27431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10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455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showMasterSp="0" preserve="1">
  <p:cSld name="自定义版式">
    <p:bg>
      <p:bgPr>
        <a:blipFill xmlns:a="http://schemas.openxmlformats.org/drawingml/2006/main">
          <a:blip xmlns:r="http://schemas.openxmlformats.org/officeDocument/2006/relationships" r:embed="rId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6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685800" y="502919"/>
            <a:ext cx="859536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/>
            <a:r>
              <a:rPr lang="en-US" altLang="zh-CN" sz="3200" b="1">
                <a:solidFill>
                  <a:srgbClr val="0B1220"/>
                </a:solidFill>
              </a:rPr>
              <a:t>Slide title</a:t>
            </a:r>
            <a:endParaRPr lang="zh-CN" altLang="en-US" sz="3200" b="1">
              <a:solidFill>
                <a:srgbClr val="0B1220"/>
              </a:solidFill>
            </a:endParaRPr>
          </a:p>
        </p:txBody>
      </p:sp>
      <p:sp>
        <p:nvSpPr>
          <p:cNvPr id="64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685800" y="1508759"/>
            <a:ext cx="10424161" cy="448056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1800">
                <a:solidFill>
                  <a:srgbClr val="1B2A4A"/>
                </a:solidFill>
              </a:rPr>
              <a:t>Add your content here</a:t>
            </a:r>
            <a:endParaRPr lang="zh-CN" altLang="en-US" sz="1800">
              <a:solidFill>
                <a:srgbClr val="1B2A4A"/>
              </a:solidFill>
            </a:endParaRPr>
          </a:p>
        </p:txBody>
      </p:sp>
      <p:sp>
        <p:nvSpPr>
          <p:cNvPr id="65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11292840" y="6400800"/>
            <a:ext cx="548639" cy="27431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10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467152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10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4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mbria" pitchFamily="0" charset="0"/>
          <a:ea typeface="等线 Light" pitchFamily="0" charset="0"/>
          <a:cs typeface="Cambria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5.png"/><Relationship Id="rId3" Type="http://schemas.openxmlformats.org/officeDocument/2006/relationships/image" Target="../media/6.png"/><Relationship Id="rId4" Type="http://schemas.openxmlformats.org/officeDocument/2006/relationships/image" Target="../media/7.png"/><Relationship Id="rId5" Type="http://schemas.openxmlformats.org/officeDocument/2006/relationships/image" Target="../media/8.png"/><Relationship Id="rId6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image" Target="../media/9.png"/><Relationship Id="rId3" Type="http://schemas.openxmlformats.org/officeDocument/2006/relationships/image" Target="../media/10.png"/><Relationship Id="rId4" Type="http://schemas.openxmlformats.org/officeDocument/2006/relationships/image" Target="../media/11.png"/><Relationship Id="rId5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image" Target="../media/12.png"/><Relationship Id="rId3" Type="http://schemas.openxmlformats.org/officeDocument/2006/relationships/image" Target="../media/13.png"/><Relationship Id="rId4" Type="http://schemas.openxmlformats.org/officeDocument/2006/relationships/image" Target="../media/14.png"/><Relationship Id="rId5" Type="http://schemas.openxmlformats.org/officeDocument/2006/relationships/image" Target="../media/15.png"/><Relationship Id="rId6" Type="http://schemas.openxmlformats.org/officeDocument/2006/relationships/image" Target="../media/16.png"/><Relationship Id="rId7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17.png"/><Relationship Id="rId3" Type="http://schemas.openxmlformats.org/officeDocument/2006/relationships/image" Target="../media/18.png"/><Relationship Id="rId4" Type="http://schemas.openxmlformats.org/officeDocument/2006/relationships/image" Target="../media/19.png"/><Relationship Id="rId5" Type="http://schemas.openxmlformats.org/officeDocument/2006/relationships/image" Target="../media/20.png"/><Relationship Id="rId6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21.png"/><Relationship Id="rId3" Type="http://schemas.openxmlformats.org/officeDocument/2006/relationships/image" Target="../media/21.png"/><Relationship Id="rId4" Type="http://schemas.openxmlformats.org/officeDocument/2006/relationships/image" Target="../media/21.png"/><Relationship Id="rId5" Type="http://schemas.openxmlformats.org/officeDocument/2006/relationships/image" Target="../media/21.png"/><Relationship Id="rId6" Type="http://schemas.openxmlformats.org/officeDocument/2006/relationships/image" Target="../media/21.png"/><Relationship Id="rId7" Type="http://schemas.openxmlformats.org/officeDocument/2006/relationships/slideLayout" Target="../slideLayouts/slideLayout13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731520" y="868680"/>
            <a:ext cx="640080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0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Cambria" pitchFamily="0" charset="0"/>
                <a:cs typeface="Cambria" pitchFamily="0" charset="0"/>
              </a:rPr>
              <a:t>Aadhirai</a:t>
            </a:r>
            <a:endParaRPr lang="zh-CN" altLang="en-US" sz="5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731520" y="2743200"/>
            <a:ext cx="59435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20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TEAM NAME :  </a:t>
            </a:r>
            <a:r>
              <a:rPr lang="en-US" altLang="zh-CN" sz="1600" b="1" i="0" u="none" strike="noStrike" kern="1200" cap="none" spc="0" baseline="0">
                <a:solidFill>
                  <a:srgbClr val="0B152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LEADBETTER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731520" y="3291840"/>
            <a:ext cx="59435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20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TEAM MEMBERS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731520" y="3657600"/>
            <a:ext cx="283464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1.  Yasha P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2.  Divya Dharshini M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3.  Monika 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3794760" y="3657600"/>
            <a:ext cx="283464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4.  Siranjeevi A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5.  Vigass M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731520" y="4983480"/>
            <a:ext cx="59435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20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COLLEGE / INSTITUTION :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731520" y="502919"/>
            <a:ext cx="7315200" cy="2743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10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ARSW001  |  OUR TOWN, REIMAGINED: SMART COMMUNITY HACK</a:t>
            </a:r>
            <a:endParaRPr lang="zh-CN" altLang="en-US" sz="1200" b="1" i="0" u="none" strike="noStrike" kern="1200" cap="none" spc="10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731520" y="1737360"/>
            <a:ext cx="658368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4A86F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Civic Accountability Engine</a:t>
            </a:r>
            <a:endParaRPr lang="zh-CN" altLang="en-US" sz="2400" b="1" i="0" u="none" strike="noStrike" kern="1200" cap="none" spc="0" baseline="0">
              <a:solidFill>
                <a:srgbClr val="4A86F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731520" y="2194560"/>
            <a:ext cx="6766559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Complaints don't end at submit. They end at proof.</a:t>
            </a:r>
            <a:endParaRPr lang="zh-CN" altLang="en-US" sz="1600" b="0" i="1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731520" y="5349239"/>
            <a:ext cx="6858000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Knowledge Institute of Technology, Salem</a:t>
            </a:r>
            <a:endParaRPr lang="zh-CN" altLang="en-US" sz="1600" b="0" i="0" u="none" strike="noStrike" kern="1200" cap="none" spc="0" baseline="0">
              <a:solidFill>
                <a:srgbClr val="1B2A4A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731520" y="5852160"/>
            <a:ext cx="6858000" cy="2743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D99AE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1942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106070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The Problem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Civic Issues. Delayed Action. Limited Accountability.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圆角矩形"/>
          <p:cNvSpPr>
            <a:spLocks/>
          </p:cNvSpPr>
          <p:nvPr/>
        </p:nvSpPr>
        <p:spPr>
          <a:xfrm rot="0">
            <a:off x="685800" y="1737360"/>
            <a:ext cx="2560320" cy="10515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30" name="椭圆"/>
          <p:cNvSpPr>
            <a:spLocks/>
          </p:cNvSpPr>
          <p:nvPr/>
        </p:nvSpPr>
        <p:spPr>
          <a:xfrm rot="0">
            <a:off x="914400" y="1943100"/>
            <a:ext cx="640079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31" name="图片" descr="Potholes and road da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74420" y="2103120"/>
            <a:ext cx="320040" cy="32003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2" name="矩形"/>
          <p:cNvSpPr>
            <a:spLocks/>
          </p:cNvSpPr>
          <p:nvPr/>
        </p:nvSpPr>
        <p:spPr>
          <a:xfrm rot="0">
            <a:off x="1691639" y="1783080"/>
            <a:ext cx="1463039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Potholes and road damage</a:t>
            </a:r>
            <a:endParaRPr lang="zh-CN" altLang="en-US" sz="15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圆角矩形"/>
          <p:cNvSpPr>
            <a:spLocks/>
          </p:cNvSpPr>
          <p:nvPr/>
        </p:nvSpPr>
        <p:spPr>
          <a:xfrm rot="0">
            <a:off x="3429000" y="1737360"/>
            <a:ext cx="2560320" cy="10515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34" name="椭圆"/>
          <p:cNvSpPr>
            <a:spLocks/>
          </p:cNvSpPr>
          <p:nvPr/>
        </p:nvSpPr>
        <p:spPr>
          <a:xfrm rot="0">
            <a:off x="3657600" y="1943100"/>
            <a:ext cx="640079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35" name="图片" descr="Water pipeline leak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3817620" y="2103120"/>
            <a:ext cx="320040" cy="32003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6" name="矩形"/>
          <p:cNvSpPr>
            <a:spLocks/>
          </p:cNvSpPr>
          <p:nvPr/>
        </p:nvSpPr>
        <p:spPr>
          <a:xfrm rot="0">
            <a:off x="4434840" y="1783080"/>
            <a:ext cx="1463039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Water pipeline leaks</a:t>
            </a:r>
            <a:endParaRPr lang="zh-CN" altLang="en-US" sz="15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" name="圆角矩形"/>
          <p:cNvSpPr>
            <a:spLocks/>
          </p:cNvSpPr>
          <p:nvPr/>
        </p:nvSpPr>
        <p:spPr>
          <a:xfrm rot="0">
            <a:off x="6172200" y="1737360"/>
            <a:ext cx="2560319" cy="10515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38" name="椭圆"/>
          <p:cNvSpPr>
            <a:spLocks/>
          </p:cNvSpPr>
          <p:nvPr/>
        </p:nvSpPr>
        <p:spPr>
          <a:xfrm rot="0">
            <a:off x="6400800" y="1943100"/>
            <a:ext cx="640080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39" name="图片" descr="Damaged electrical wir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560820" y="2103120"/>
            <a:ext cx="320040" cy="32003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0" name="矩形"/>
          <p:cNvSpPr>
            <a:spLocks/>
          </p:cNvSpPr>
          <p:nvPr/>
        </p:nvSpPr>
        <p:spPr>
          <a:xfrm rot="0">
            <a:off x="7178040" y="1783080"/>
            <a:ext cx="1463040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Damaged electrical wires</a:t>
            </a:r>
            <a:endParaRPr lang="zh-CN" altLang="en-US" sz="15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圆角矩形"/>
          <p:cNvSpPr>
            <a:spLocks/>
          </p:cNvSpPr>
          <p:nvPr/>
        </p:nvSpPr>
        <p:spPr>
          <a:xfrm rot="0">
            <a:off x="8915400" y="1737360"/>
            <a:ext cx="2560319" cy="10515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42" name="椭圆"/>
          <p:cNvSpPr>
            <a:spLocks/>
          </p:cNvSpPr>
          <p:nvPr/>
        </p:nvSpPr>
        <p:spPr>
          <a:xfrm rot="0">
            <a:off x="9144000" y="1943100"/>
            <a:ext cx="640080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43" name="图片" descr="Blocked drains and garbage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304020" y="2103120"/>
            <a:ext cx="320040" cy="32003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4" name="矩形"/>
          <p:cNvSpPr>
            <a:spLocks/>
          </p:cNvSpPr>
          <p:nvPr/>
        </p:nvSpPr>
        <p:spPr>
          <a:xfrm rot="0">
            <a:off x="9921240" y="1783080"/>
            <a:ext cx="1463039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Blocked drains and garbage</a:t>
            </a:r>
            <a:endParaRPr lang="zh-CN" altLang="en-US" sz="15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圆角矩形"/>
          <p:cNvSpPr>
            <a:spLocks/>
          </p:cNvSpPr>
          <p:nvPr/>
        </p:nvSpPr>
        <p:spPr>
          <a:xfrm rot="0">
            <a:off x="685800" y="3017519"/>
            <a:ext cx="2011679" cy="164592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46" name="椭圆"/>
          <p:cNvSpPr>
            <a:spLocks/>
          </p:cNvSpPr>
          <p:nvPr/>
        </p:nvSpPr>
        <p:spPr>
          <a:xfrm rot="0">
            <a:off x="822960" y="3154680"/>
            <a:ext cx="384048" cy="38404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822960" y="3611880"/>
            <a:ext cx="178308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Department Confusion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Unclear which authority is responsible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圆角矩形"/>
          <p:cNvSpPr>
            <a:spLocks/>
          </p:cNvSpPr>
          <p:nvPr/>
        </p:nvSpPr>
        <p:spPr>
          <a:xfrm rot="0">
            <a:off x="2880360" y="3017519"/>
            <a:ext cx="2011679" cy="164592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49" name="椭圆"/>
          <p:cNvSpPr>
            <a:spLocks/>
          </p:cNvSpPr>
          <p:nvPr/>
        </p:nvSpPr>
        <p:spPr>
          <a:xfrm rot="0">
            <a:off x="3017519" y="3154680"/>
            <a:ext cx="384048" cy="38404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 rot="0">
            <a:off x="3017519" y="3611880"/>
            <a:ext cx="178308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Delayed Follow-ups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Complaints stay pending with no escalation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圆角矩形"/>
          <p:cNvSpPr>
            <a:spLocks/>
          </p:cNvSpPr>
          <p:nvPr/>
        </p:nvSpPr>
        <p:spPr>
          <a:xfrm rot="0">
            <a:off x="5074920" y="3017519"/>
            <a:ext cx="2011679" cy="164592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52" name="椭圆"/>
          <p:cNvSpPr>
            <a:spLocks/>
          </p:cNvSpPr>
          <p:nvPr/>
        </p:nvSpPr>
        <p:spPr>
          <a:xfrm rot="0">
            <a:off x="5212080" y="3154680"/>
            <a:ext cx="384048" cy="38404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5212080" y="3611880"/>
            <a:ext cx="178308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Unverified Resolutions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Marked 'resolved' without proof of repair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圆角矩形"/>
          <p:cNvSpPr>
            <a:spLocks/>
          </p:cNvSpPr>
          <p:nvPr/>
        </p:nvSpPr>
        <p:spPr>
          <a:xfrm rot="0">
            <a:off x="7269480" y="3017519"/>
            <a:ext cx="2011679" cy="164592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55" name="椭圆"/>
          <p:cNvSpPr>
            <a:spLocks/>
          </p:cNvSpPr>
          <p:nvPr/>
        </p:nvSpPr>
        <p:spPr>
          <a:xfrm rot="0">
            <a:off x="7406639" y="3154680"/>
            <a:ext cx="384048" cy="38404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7406639" y="3611880"/>
            <a:ext cx="178308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Recurring Failures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Repeat issues at one spot go unnoticed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圆角矩形"/>
          <p:cNvSpPr>
            <a:spLocks/>
          </p:cNvSpPr>
          <p:nvPr/>
        </p:nvSpPr>
        <p:spPr>
          <a:xfrm rot="0">
            <a:off x="9464040" y="3017519"/>
            <a:ext cx="2011680" cy="164592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58" name="椭圆"/>
          <p:cNvSpPr>
            <a:spLocks/>
          </p:cNvSpPr>
          <p:nvPr/>
        </p:nvSpPr>
        <p:spPr>
          <a:xfrm rot="0">
            <a:off x="9601200" y="3154680"/>
            <a:ext cx="384047" cy="38404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9601200" y="3611880"/>
            <a:ext cx="178308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Access Barriers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Language, literacy and connectivity gaps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" name="圆角矩形"/>
          <p:cNvSpPr>
            <a:spLocks/>
          </p:cNvSpPr>
          <p:nvPr/>
        </p:nvSpPr>
        <p:spPr>
          <a:xfrm rot="0">
            <a:off x="3200400" y="4983480"/>
            <a:ext cx="8302753" cy="1097279"/>
          </a:xfrm>
          <a:prstGeom prst="roundRect">
            <a:avLst>
              <a:gd name="adj" fmla="val 9000"/>
            </a:avLst>
          </a:prstGeom>
          <a:solidFill>
            <a:srgbClr val="4A86F0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74320" tIns="91440" rIns="274320" bIns="9144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THE CORE PROBLEM</a:t>
            </a:r>
            <a:endParaRPr lang="en-US" altLang="zh-CN" sz="1200" b="1" i="0" u="none" strike="noStrike" kern="1200" cap="none" spc="15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No transparent, accessible system tracks civic complaints from submission all the way to evidence-based resolution.</a:t>
            </a:r>
            <a:endParaRPr lang="zh-CN" altLang="en-US" sz="17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683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85953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Our Idea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67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An AI-powered, Tamil-first Civic Accountability Engine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685800" y="1627632"/>
            <a:ext cx="9966960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Aadhirai tracks local infrastructure complaints from reporting to </a:t>
            </a:r>
            <a:r>
              <a:rPr lang="en-US" altLang="zh-CN" sz="1800" b="1" i="0" u="none" strike="noStrike" kern="1200" cap="none" spc="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verified resolution.</a:t>
            </a:r>
            <a:endParaRPr lang="zh-CN" altLang="en-US" sz="1800" b="1" i="0" u="none" strike="noStrike" kern="1200" cap="none" spc="0" baseline="0">
              <a:solidFill>
                <a:srgbClr val="0B122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圆角矩形"/>
          <p:cNvSpPr>
            <a:spLocks/>
          </p:cNvSpPr>
          <p:nvPr/>
        </p:nvSpPr>
        <p:spPr>
          <a:xfrm rot="0">
            <a:off x="685800" y="2286000"/>
            <a:ext cx="3291840" cy="19659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71" name="椭圆"/>
          <p:cNvSpPr>
            <a:spLocks/>
          </p:cNvSpPr>
          <p:nvPr/>
        </p:nvSpPr>
        <p:spPr>
          <a:xfrm rot="0">
            <a:off x="868680" y="2468880"/>
            <a:ext cx="640079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72" name="图片" descr="Auto-Escalation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28700" y="2628900"/>
            <a:ext cx="320040" cy="3200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3" name="矩形"/>
          <p:cNvSpPr>
            <a:spLocks/>
          </p:cNvSpPr>
          <p:nvPr/>
        </p:nvSpPr>
        <p:spPr>
          <a:xfrm rot="0">
            <a:off x="1645920" y="2487167"/>
            <a:ext cx="2194560" cy="60350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Auto-Escalation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74" name="矩形"/>
          <p:cNvSpPr>
            <a:spLocks/>
          </p:cNvSpPr>
          <p:nvPr/>
        </p:nvSpPr>
        <p:spPr>
          <a:xfrm rot="0">
            <a:off x="914400" y="3246120"/>
            <a:ext cx="2834640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DCE9F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Deadline-driven reminders and escalation drafts when action is overdue.</a:t>
            </a:r>
            <a:endParaRPr lang="zh-CN" altLang="en-US" sz="1400" b="0" i="0" u="none" strike="noStrike" kern="1200" cap="none" spc="0" baseline="0">
              <a:solidFill>
                <a:srgbClr val="DCE9F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圆角矩形"/>
          <p:cNvSpPr>
            <a:spLocks/>
          </p:cNvSpPr>
          <p:nvPr/>
        </p:nvSpPr>
        <p:spPr>
          <a:xfrm rot="0">
            <a:off x="4206240" y="2286000"/>
            <a:ext cx="3291840" cy="19659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76" name="椭圆"/>
          <p:cNvSpPr>
            <a:spLocks/>
          </p:cNvSpPr>
          <p:nvPr/>
        </p:nvSpPr>
        <p:spPr>
          <a:xfrm rot="0">
            <a:off x="4389120" y="2468880"/>
            <a:ext cx="640080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77" name="图片" descr="Evidence Verification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549140" y="2628900"/>
            <a:ext cx="320040" cy="3200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8" name="矩形"/>
          <p:cNvSpPr>
            <a:spLocks/>
          </p:cNvSpPr>
          <p:nvPr/>
        </p:nvSpPr>
        <p:spPr>
          <a:xfrm rot="0">
            <a:off x="5166360" y="2487167"/>
            <a:ext cx="2194560" cy="60350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Evidence Verification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4434840" y="3246120"/>
            <a:ext cx="2834640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DCE9F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Before/after photos, GPS, metadata and image-reuse checks, with human review for doubtful cases.</a:t>
            </a:r>
            <a:endParaRPr lang="zh-CN" altLang="en-US" sz="1400" b="0" i="0" u="none" strike="noStrike" kern="1200" cap="none" spc="0" baseline="0">
              <a:solidFill>
                <a:srgbClr val="DCE9F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圆角矩形"/>
          <p:cNvSpPr>
            <a:spLocks/>
          </p:cNvSpPr>
          <p:nvPr/>
        </p:nvSpPr>
        <p:spPr>
          <a:xfrm rot="0">
            <a:off x="7726680" y="2286000"/>
            <a:ext cx="3291840" cy="196595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81" name="椭圆"/>
          <p:cNvSpPr>
            <a:spLocks/>
          </p:cNvSpPr>
          <p:nvPr/>
        </p:nvSpPr>
        <p:spPr>
          <a:xfrm rot="0">
            <a:off x="7909560" y="2468880"/>
            <a:ext cx="640080" cy="640079"/>
          </a:xfrm>
          <a:prstGeom prst="ellipse"/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pic>
        <p:nvPicPr>
          <p:cNvPr id="82" name="图片" descr="Proof of Resolution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069580" y="2628900"/>
            <a:ext cx="320040" cy="3200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3" name="矩形"/>
          <p:cNvSpPr>
            <a:spLocks/>
          </p:cNvSpPr>
          <p:nvPr/>
        </p:nvSpPr>
        <p:spPr>
          <a:xfrm rot="0">
            <a:off x="8686800" y="2487167"/>
            <a:ext cx="2194560" cy="60350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Proof of Resolution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7955280" y="3246120"/>
            <a:ext cx="2834639" cy="9601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DCE9F7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Shareable public page with timeline and QR code for every verified case.</a:t>
            </a:r>
            <a:endParaRPr lang="zh-CN" altLang="en-US" sz="1400" b="0" i="0" u="none" strike="noStrike" kern="1200" cap="none" spc="0" baseline="0">
              <a:solidFill>
                <a:srgbClr val="DCE9F7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圆角矩形"/>
          <p:cNvSpPr>
            <a:spLocks/>
          </p:cNvSpPr>
          <p:nvPr/>
        </p:nvSpPr>
        <p:spPr>
          <a:xfrm rot="0">
            <a:off x="685800" y="452628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solidFill>
              <a:srgbClr val="CFE3F7"/>
            </a:solidFill>
            <a:prstDash val="solid"/>
            <a:round/>
          </a:ln>
        </p:spPr>
      </p:sp>
      <p:sp>
        <p:nvSpPr>
          <p:cNvPr id="86" name="矩形"/>
          <p:cNvSpPr>
            <a:spLocks/>
          </p:cNvSpPr>
          <p:nvPr/>
        </p:nvSpPr>
        <p:spPr>
          <a:xfrm rot="0">
            <a:off x="822960" y="4572000"/>
            <a:ext cx="2285999" cy="9601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AI-Powered Reporting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Photo + Tamil text or voice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圆角矩形"/>
          <p:cNvSpPr>
            <a:spLocks/>
          </p:cNvSpPr>
          <p:nvPr/>
        </p:nvSpPr>
        <p:spPr>
          <a:xfrm rot="0">
            <a:off x="3429000" y="4526280"/>
            <a:ext cx="2560320" cy="10515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solidFill>
              <a:srgbClr val="CFE3F7"/>
            </a:solidFill>
            <a:prstDash val="solid"/>
            <a:round/>
          </a:ln>
        </p:spPr>
      </p:sp>
      <p:sp>
        <p:nvSpPr>
          <p:cNvPr id="88" name="矩形"/>
          <p:cNvSpPr>
            <a:spLocks/>
          </p:cNvSpPr>
          <p:nvPr/>
        </p:nvSpPr>
        <p:spPr>
          <a:xfrm rot="0">
            <a:off x="3566160" y="4572000"/>
            <a:ext cx="2286000" cy="9601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Smart Routing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Jurisdiction-based department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圆角矩形"/>
          <p:cNvSpPr>
            <a:spLocks/>
          </p:cNvSpPr>
          <p:nvPr/>
        </p:nvSpPr>
        <p:spPr>
          <a:xfrm rot="0">
            <a:off x="6172200" y="4526280"/>
            <a:ext cx="2560319" cy="10515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solidFill>
              <a:srgbClr val="CFE3F7"/>
            </a:solidFill>
            <a:prstDash val="solid"/>
            <a:round/>
          </a:ln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6309360" y="4572000"/>
            <a:ext cx="2286000" cy="9601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Recurring Issue Detection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Repeat problems at one spot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圆角矩形"/>
          <p:cNvSpPr>
            <a:spLocks/>
          </p:cNvSpPr>
          <p:nvPr/>
        </p:nvSpPr>
        <p:spPr>
          <a:xfrm rot="0">
            <a:off x="8915400" y="4526280"/>
            <a:ext cx="2560319" cy="10515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solidFill>
              <a:srgbClr val="CFE3F7"/>
            </a:solidFill>
            <a:prstDash val="solid"/>
            <a:round/>
          </a:ln>
        </p:spPr>
      </p:sp>
      <p:sp>
        <p:nvSpPr>
          <p:cNvPr id="92" name="矩形"/>
          <p:cNvSpPr>
            <a:spLocks/>
          </p:cNvSpPr>
          <p:nvPr/>
        </p:nvSpPr>
        <p:spPr>
          <a:xfrm rot="0">
            <a:off x="9052560" y="4572000"/>
            <a:ext cx="2286000" cy="9601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Civic Intelligence Dashboard</a:t>
            </a:r>
            <a:endParaRPr lang="en-US" altLang="zh-CN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Pending, resolved, ward trends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685800" y="5760720"/>
            <a:ext cx="105156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Our differentiator: </a:t>
            </a: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follow-up, resolution verification and accountability in one workflow.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27580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106070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How It Works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97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Report → Route → Escalate → Verify → Score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五边形"/>
          <p:cNvSpPr>
            <a:spLocks/>
          </p:cNvSpPr>
          <p:nvPr/>
        </p:nvSpPr>
        <p:spPr>
          <a:xfrm rot="0">
            <a:off x="685800" y="1737360"/>
            <a:ext cx="1828800" cy="731520"/>
          </a:xfrm>
          <a:prstGeom prst="homePlate">
            <a:avLst>
              <a:gd name="adj" fmla="val 30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</p:spPr>
        <p:txBody>
          <a:bodyPr vert="horz" wrap="square" lIns="4572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1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00" name="圆角矩形"/>
          <p:cNvSpPr>
            <a:spLocks/>
          </p:cNvSpPr>
          <p:nvPr/>
        </p:nvSpPr>
        <p:spPr>
          <a:xfrm rot="0">
            <a:off x="704088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01" name="矩形"/>
          <p:cNvSpPr>
            <a:spLocks/>
          </p:cNvSpPr>
          <p:nvPr/>
        </p:nvSpPr>
        <p:spPr>
          <a:xfrm rot="0">
            <a:off x="822960" y="2743200"/>
            <a:ext cx="1444752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Report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Photo, GPS and Tamil voice or text from the citizen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燕尾形"/>
          <p:cNvSpPr>
            <a:spLocks/>
          </p:cNvSpPr>
          <p:nvPr/>
        </p:nvSpPr>
        <p:spPr>
          <a:xfrm rot="0">
            <a:off x="2487167" y="1737360"/>
            <a:ext cx="1828800" cy="731520"/>
          </a:xfrm>
          <a:prstGeom prst="chevron">
            <a:avLst>
              <a:gd name="adj" fmla="val 30000"/>
            </a:avLst>
          </a:prstGeom>
          <a:solidFill>
            <a:srgbClr val="233F73"/>
          </a:solidFill>
          <a:ln w="12700" cmpd="sng" cap="flat">
            <a:noFill/>
            <a:prstDash val="solid"/>
            <a:round/>
          </a:ln>
        </p:spPr>
        <p:txBody>
          <a:bodyPr vert="horz" wrap="square" lIns="18288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2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03" name="圆角矩形"/>
          <p:cNvSpPr>
            <a:spLocks/>
          </p:cNvSpPr>
          <p:nvPr/>
        </p:nvSpPr>
        <p:spPr>
          <a:xfrm rot="0">
            <a:off x="2505456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04" name="矩形"/>
          <p:cNvSpPr>
            <a:spLocks/>
          </p:cNvSpPr>
          <p:nvPr/>
        </p:nvSpPr>
        <p:spPr>
          <a:xfrm rot="0">
            <a:off x="2624328" y="2743200"/>
            <a:ext cx="1444752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Classify &amp; Route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AI finds the issue; rules pick the department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燕尾形"/>
          <p:cNvSpPr>
            <a:spLocks/>
          </p:cNvSpPr>
          <p:nvPr/>
        </p:nvSpPr>
        <p:spPr>
          <a:xfrm rot="0">
            <a:off x="4288536" y="1737360"/>
            <a:ext cx="1828799" cy="731520"/>
          </a:xfrm>
          <a:prstGeom prst="chevron">
            <a:avLst>
              <a:gd name="adj" fmla="val 30000"/>
            </a:avLst>
          </a:prstGeom>
          <a:solidFill>
            <a:srgbClr val="2C58A0"/>
          </a:solidFill>
          <a:ln w="12700" cmpd="sng" cap="flat">
            <a:noFill/>
            <a:prstDash val="solid"/>
            <a:round/>
          </a:ln>
        </p:spPr>
        <p:txBody>
          <a:bodyPr vert="horz" wrap="square" lIns="18288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3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06" name="圆角矩形"/>
          <p:cNvSpPr>
            <a:spLocks/>
          </p:cNvSpPr>
          <p:nvPr/>
        </p:nvSpPr>
        <p:spPr>
          <a:xfrm rot="0">
            <a:off x="4306824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07" name="矩形"/>
          <p:cNvSpPr>
            <a:spLocks/>
          </p:cNvSpPr>
          <p:nvPr/>
        </p:nvSpPr>
        <p:spPr>
          <a:xfrm rot="0">
            <a:off x="4425696" y="2743200"/>
            <a:ext cx="1444752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Track &amp; Escalate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Deadlines tracked; reminders sent if overdue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燕尾形"/>
          <p:cNvSpPr>
            <a:spLocks/>
          </p:cNvSpPr>
          <p:nvPr/>
        </p:nvSpPr>
        <p:spPr>
          <a:xfrm rot="0">
            <a:off x="6089904" y="1737360"/>
            <a:ext cx="1828800" cy="731520"/>
          </a:xfrm>
          <a:prstGeom prst="chevron">
            <a:avLst>
              <a:gd name="adj" fmla="val 30000"/>
            </a:avLst>
          </a:prstGeom>
          <a:solidFill>
            <a:srgbClr val="3A72D0"/>
          </a:solidFill>
          <a:ln w="12700" cmpd="sng" cap="flat">
            <a:noFill/>
            <a:prstDash val="solid"/>
            <a:round/>
          </a:ln>
        </p:spPr>
        <p:txBody>
          <a:bodyPr vert="horz" wrap="square" lIns="18288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4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09" name="圆角矩形"/>
          <p:cNvSpPr>
            <a:spLocks/>
          </p:cNvSpPr>
          <p:nvPr/>
        </p:nvSpPr>
        <p:spPr>
          <a:xfrm rot="0">
            <a:off x="6108191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6227064" y="2743200"/>
            <a:ext cx="1444752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Verify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Evidence, location and reuse checked; human review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燕尾形"/>
          <p:cNvSpPr>
            <a:spLocks/>
          </p:cNvSpPr>
          <p:nvPr/>
        </p:nvSpPr>
        <p:spPr>
          <a:xfrm rot="0">
            <a:off x="7891272" y="1737360"/>
            <a:ext cx="1828800" cy="731520"/>
          </a:xfrm>
          <a:prstGeom prst="chevron">
            <a:avLst>
              <a:gd name="adj" fmla="val 30000"/>
            </a:avLst>
          </a:prstGeom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18288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5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12" name="圆角矩形"/>
          <p:cNvSpPr>
            <a:spLocks/>
          </p:cNvSpPr>
          <p:nvPr/>
        </p:nvSpPr>
        <p:spPr>
          <a:xfrm rot="0">
            <a:off x="7909560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13" name="矩形"/>
          <p:cNvSpPr>
            <a:spLocks/>
          </p:cNvSpPr>
          <p:nvPr/>
        </p:nvSpPr>
        <p:spPr>
          <a:xfrm rot="0">
            <a:off x="8028432" y="2743200"/>
            <a:ext cx="1444752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Generate Proof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Public page with QR code and timeline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燕尾形"/>
          <p:cNvSpPr>
            <a:spLocks/>
          </p:cNvSpPr>
          <p:nvPr/>
        </p:nvSpPr>
        <p:spPr>
          <a:xfrm rot="0">
            <a:off x="9692640" y="1737360"/>
            <a:ext cx="1828799" cy="731520"/>
          </a:xfrm>
          <a:prstGeom prst="chevron">
            <a:avLst>
              <a:gd name="adj" fmla="val 30000"/>
            </a:avLst>
          </a:prstGeom>
          <a:solidFill>
            <a:srgbClr val="2F93E6"/>
          </a:solidFill>
          <a:ln w="12700" cmpd="sng" cap="flat">
            <a:noFill/>
            <a:prstDash val="solid"/>
            <a:round/>
          </a:ln>
        </p:spPr>
        <p:txBody>
          <a:bodyPr vert="horz" wrap="square" lIns="182880" tIns="0" rIns="9144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6</a:t>
            </a:r>
            <a:endParaRPr lang="zh-CN" altLang="en-US" sz="2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15" name="圆角矩形"/>
          <p:cNvSpPr>
            <a:spLocks/>
          </p:cNvSpPr>
          <p:nvPr/>
        </p:nvSpPr>
        <p:spPr>
          <a:xfrm rot="0">
            <a:off x="9710928" y="2651760"/>
            <a:ext cx="1673352" cy="192024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16" name="矩形"/>
          <p:cNvSpPr>
            <a:spLocks/>
          </p:cNvSpPr>
          <p:nvPr/>
        </p:nvSpPr>
        <p:spPr>
          <a:xfrm rot="0">
            <a:off x="9829800" y="2743200"/>
            <a:ext cx="1444751" cy="1783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Analyze</a:t>
            </a:r>
            <a:endParaRPr lang="en-US" altLang="zh-CN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Dashboards for pending and recurring issues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圆角矩形"/>
          <p:cNvSpPr>
            <a:spLocks/>
          </p:cNvSpPr>
          <p:nvPr/>
        </p:nvSpPr>
        <p:spPr>
          <a:xfrm rot="0">
            <a:off x="3108960" y="4937760"/>
            <a:ext cx="8394192" cy="114300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74320" tIns="91440" rIns="274320" bIns="9144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5EEAD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EXAMPLE</a:t>
            </a:r>
            <a:endParaRPr lang="en-US" altLang="zh-CN" sz="1200" b="1" i="0" u="none" strike="noStrike" kern="1200" cap="none" spc="150" baseline="0">
              <a:solidFill>
                <a:srgbClr val="5EEAD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 reported pothole is routed to the responsible authority, followed up if overdue, and checked against repair evidence before it is marked </a:t>
            </a:r>
            <a:r>
              <a:rPr lang="en-US" altLang="zh-CN" sz="1600" b="1" i="0" u="none" strike="noStrike" kern="1200" cap="none" spc="0" baseline="0">
                <a:solidFill>
                  <a:srgbClr val="5EEAD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verified.</a:t>
            </a:r>
            <a:endParaRPr lang="zh-CN" altLang="en-US" sz="1600" b="1" i="0" u="none" strike="noStrike" kern="1200" cap="none" spc="0" baseline="0">
              <a:solidFill>
                <a:srgbClr val="5EEAD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4086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85953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Technology &amp; Tools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121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Architecture and technology stack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圆角矩形"/>
          <p:cNvSpPr>
            <a:spLocks/>
          </p:cNvSpPr>
          <p:nvPr/>
        </p:nvSpPr>
        <p:spPr>
          <a:xfrm rot="0">
            <a:off x="685800" y="1691639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Citizen Interface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右箭头"/>
          <p:cNvSpPr>
            <a:spLocks/>
          </p:cNvSpPr>
          <p:nvPr/>
        </p:nvSpPr>
        <p:spPr>
          <a:xfrm rot="0">
            <a:off x="2185416" y="1993392"/>
            <a:ext cx="201167" cy="256032"/>
          </a:xfrm>
          <a:prstGeom prst="rightArrow">
            <a:avLst>
              <a:gd name="adj1" fmla="val 50000"/>
              <a:gd name="adj2" fmla="val 39285"/>
            </a:avLst>
          </a:prstGeom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sp>
        <p:nvSpPr>
          <p:cNvPr id="125" name="圆角矩形"/>
          <p:cNvSpPr>
            <a:spLocks/>
          </p:cNvSpPr>
          <p:nvPr/>
        </p:nvSpPr>
        <p:spPr>
          <a:xfrm rot="0">
            <a:off x="2404872" y="1691639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233F73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FastAPI Backend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右箭头"/>
          <p:cNvSpPr>
            <a:spLocks/>
          </p:cNvSpPr>
          <p:nvPr/>
        </p:nvSpPr>
        <p:spPr>
          <a:xfrm rot="0">
            <a:off x="3904488" y="1993392"/>
            <a:ext cx="201168" cy="256032"/>
          </a:xfrm>
          <a:prstGeom prst="rightArrow">
            <a:avLst>
              <a:gd name="adj1" fmla="val 50000"/>
              <a:gd name="adj2" fmla="val 39285"/>
            </a:avLst>
          </a:prstGeom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sp>
        <p:nvSpPr>
          <p:cNvPr id="127" name="圆角矩形"/>
          <p:cNvSpPr>
            <a:spLocks/>
          </p:cNvSpPr>
          <p:nvPr/>
        </p:nvSpPr>
        <p:spPr>
          <a:xfrm rot="0">
            <a:off x="4123943" y="1691639"/>
            <a:ext cx="1463039" cy="868680"/>
          </a:xfrm>
          <a:prstGeom prst="roundRect">
            <a:avLst>
              <a:gd name="adj" fmla="val 12000"/>
            </a:avLst>
          </a:prstGeom>
          <a:solidFill>
            <a:srgbClr val="2C58A0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AI &amp; Rules Engine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右箭头"/>
          <p:cNvSpPr>
            <a:spLocks/>
          </p:cNvSpPr>
          <p:nvPr/>
        </p:nvSpPr>
        <p:spPr>
          <a:xfrm rot="0">
            <a:off x="5623560" y="1993392"/>
            <a:ext cx="201167" cy="256032"/>
          </a:xfrm>
          <a:prstGeom prst="rightArrow">
            <a:avLst>
              <a:gd name="adj1" fmla="val 50000"/>
              <a:gd name="adj2" fmla="val 39285"/>
            </a:avLst>
          </a:prstGeom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sp>
        <p:nvSpPr>
          <p:cNvPr id="129" name="圆角矩形"/>
          <p:cNvSpPr>
            <a:spLocks/>
          </p:cNvSpPr>
          <p:nvPr/>
        </p:nvSpPr>
        <p:spPr>
          <a:xfrm rot="0">
            <a:off x="5843016" y="1691639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3A72D0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Database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右箭头"/>
          <p:cNvSpPr>
            <a:spLocks/>
          </p:cNvSpPr>
          <p:nvPr/>
        </p:nvSpPr>
        <p:spPr>
          <a:xfrm rot="0">
            <a:off x="7342632" y="1993392"/>
            <a:ext cx="201167" cy="256032"/>
          </a:xfrm>
          <a:prstGeom prst="rightArrow">
            <a:avLst>
              <a:gd name="adj1" fmla="val 50000"/>
              <a:gd name="adj2" fmla="val 39285"/>
            </a:avLst>
          </a:prstGeom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sp>
        <p:nvSpPr>
          <p:cNvPr id="131" name="圆角矩形"/>
          <p:cNvSpPr>
            <a:spLocks/>
          </p:cNvSpPr>
          <p:nvPr/>
        </p:nvSpPr>
        <p:spPr>
          <a:xfrm rot="0">
            <a:off x="7562088" y="1691639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4A86F0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Follow-up Workflow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右箭头"/>
          <p:cNvSpPr>
            <a:spLocks/>
          </p:cNvSpPr>
          <p:nvPr/>
        </p:nvSpPr>
        <p:spPr>
          <a:xfrm rot="0">
            <a:off x="9061704" y="1993392"/>
            <a:ext cx="201167" cy="256032"/>
          </a:xfrm>
          <a:prstGeom prst="rightArrow">
            <a:avLst>
              <a:gd name="adj1" fmla="val 50000"/>
              <a:gd name="adj2" fmla="val 39285"/>
            </a:avLst>
          </a:prstGeom>
          <a:solidFill>
            <a:srgbClr val="3AA0F5"/>
          </a:solidFill>
          <a:ln w="12700" cmpd="sng" cap="flat">
            <a:noFill/>
            <a:prstDash val="solid"/>
            <a:round/>
          </a:ln>
        </p:spPr>
      </p:sp>
      <p:sp>
        <p:nvSpPr>
          <p:cNvPr id="133" name="圆角矩形"/>
          <p:cNvSpPr>
            <a:spLocks/>
          </p:cNvSpPr>
          <p:nvPr/>
        </p:nvSpPr>
        <p:spPr>
          <a:xfrm rot="0">
            <a:off x="9281160" y="1691639"/>
            <a:ext cx="1463039" cy="868680"/>
          </a:xfrm>
          <a:prstGeom prst="roundRect">
            <a:avLst>
              <a:gd name="adj" fmla="val 12000"/>
            </a:avLst>
          </a:prstGeom>
          <a:solidFill>
            <a:srgbClr val="2F93E6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54864" tIns="36576" rIns="54864" bIns="36576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Public + Govt Dashboards</a:t>
            </a:r>
            <a:endParaRPr lang="zh-CN" altLang="en-US" sz="14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圆角矩形"/>
          <p:cNvSpPr>
            <a:spLocks/>
          </p:cNvSpPr>
          <p:nvPr/>
        </p:nvSpPr>
        <p:spPr>
          <a:xfrm rot="0">
            <a:off x="685800" y="2743200"/>
            <a:ext cx="3474720" cy="17373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35" name="椭圆"/>
          <p:cNvSpPr>
            <a:spLocks/>
          </p:cNvSpPr>
          <p:nvPr/>
        </p:nvSpPr>
        <p:spPr>
          <a:xfrm rot="0">
            <a:off x="832104" y="2889504"/>
            <a:ext cx="475488" cy="475487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36" name="图片" descr="Fronte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50975" y="3008376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7" name="矩形"/>
          <p:cNvSpPr>
            <a:spLocks/>
          </p:cNvSpPr>
          <p:nvPr/>
        </p:nvSpPr>
        <p:spPr>
          <a:xfrm rot="0">
            <a:off x="1463040" y="2880360"/>
            <a:ext cx="2560319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Frontend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868680" y="3419856"/>
            <a:ext cx="320040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React.js / Next.js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Mobile-first responsive UI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Interactive dashboards and maps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圆角矩形"/>
          <p:cNvSpPr>
            <a:spLocks/>
          </p:cNvSpPr>
          <p:nvPr/>
        </p:nvSpPr>
        <p:spPr>
          <a:xfrm rot="0">
            <a:off x="4343400" y="2743200"/>
            <a:ext cx="3474720" cy="17373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40" name="椭圆"/>
          <p:cNvSpPr>
            <a:spLocks/>
          </p:cNvSpPr>
          <p:nvPr/>
        </p:nvSpPr>
        <p:spPr>
          <a:xfrm rot="0">
            <a:off x="4489704" y="2889504"/>
            <a:ext cx="475487" cy="475487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41" name="图片" descr="Backend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608576" y="3008376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2" name="矩形"/>
          <p:cNvSpPr>
            <a:spLocks/>
          </p:cNvSpPr>
          <p:nvPr/>
        </p:nvSpPr>
        <p:spPr>
          <a:xfrm rot="0">
            <a:off x="5120640" y="2880360"/>
            <a:ext cx="2560320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Backend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4526280" y="3419856"/>
            <a:ext cx="320040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Python + FastAPI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REST APIs for complaints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Workflow orchestration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圆角矩形"/>
          <p:cNvSpPr>
            <a:spLocks/>
          </p:cNvSpPr>
          <p:nvPr/>
        </p:nvSpPr>
        <p:spPr>
          <a:xfrm rot="0">
            <a:off x="8000999" y="2743200"/>
            <a:ext cx="3474720" cy="173736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45" name="椭圆"/>
          <p:cNvSpPr>
            <a:spLocks/>
          </p:cNvSpPr>
          <p:nvPr/>
        </p:nvSpPr>
        <p:spPr>
          <a:xfrm rot="0">
            <a:off x="8147303" y="2889504"/>
            <a:ext cx="475488" cy="475487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46" name="图片" descr="AI &amp; Computer Vision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266176" y="3008376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7" name="矩形"/>
          <p:cNvSpPr>
            <a:spLocks/>
          </p:cNvSpPr>
          <p:nvPr/>
        </p:nvSpPr>
        <p:spPr>
          <a:xfrm rot="0">
            <a:off x="8778240" y="2880360"/>
            <a:ext cx="2560319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AI &amp; Computer Vision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48" name="矩形"/>
          <p:cNvSpPr>
            <a:spLocks/>
          </p:cNvSpPr>
          <p:nvPr/>
        </p:nvSpPr>
        <p:spPr>
          <a:xfrm rot="0">
            <a:off x="8183880" y="3419856"/>
            <a:ext cx="3200400" cy="10058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Vision-capable AI model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Tamil speech-to-text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pHash image-reuse detection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Rule-based verification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圆角矩形"/>
          <p:cNvSpPr>
            <a:spLocks/>
          </p:cNvSpPr>
          <p:nvPr/>
        </p:nvSpPr>
        <p:spPr>
          <a:xfrm rot="0">
            <a:off x="685800" y="4572000"/>
            <a:ext cx="3474720" cy="164591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50" name="椭圆"/>
          <p:cNvSpPr>
            <a:spLocks/>
          </p:cNvSpPr>
          <p:nvPr/>
        </p:nvSpPr>
        <p:spPr>
          <a:xfrm rot="0">
            <a:off x="832104" y="4718304"/>
            <a:ext cx="475488" cy="47548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51" name="图片" descr="Database &amp; Location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50975" y="4837176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2" name="矩形"/>
          <p:cNvSpPr>
            <a:spLocks/>
          </p:cNvSpPr>
          <p:nvPr/>
        </p:nvSpPr>
        <p:spPr>
          <a:xfrm rot="0">
            <a:off x="1463040" y="4709160"/>
            <a:ext cx="2560319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Database &amp; Location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53" name="矩形"/>
          <p:cNvSpPr>
            <a:spLocks/>
          </p:cNvSpPr>
          <p:nvPr/>
        </p:nvSpPr>
        <p:spPr>
          <a:xfrm rot="0">
            <a:off x="868680" y="5248656"/>
            <a:ext cx="3200400" cy="10058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PostgreSQL + PostGIS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OpenStreetMap-based maps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Audit log of every action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4" name="圆角矩形"/>
          <p:cNvSpPr>
            <a:spLocks/>
          </p:cNvSpPr>
          <p:nvPr/>
        </p:nvSpPr>
        <p:spPr>
          <a:xfrm rot="0">
            <a:off x="4343400" y="4572000"/>
            <a:ext cx="3474720" cy="164591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55" name="椭圆"/>
          <p:cNvSpPr>
            <a:spLocks/>
          </p:cNvSpPr>
          <p:nvPr/>
        </p:nvSpPr>
        <p:spPr>
          <a:xfrm rot="0">
            <a:off x="4489704" y="4718304"/>
            <a:ext cx="475487" cy="475488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56" name="图片" descr="Workflow &amp; Visualization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4608576" y="4837176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7" name="矩形"/>
          <p:cNvSpPr>
            <a:spLocks/>
          </p:cNvSpPr>
          <p:nvPr/>
        </p:nvSpPr>
        <p:spPr>
          <a:xfrm rot="0">
            <a:off x="5120640" y="4709160"/>
            <a:ext cx="2560320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Workflow &amp; Visualization</a:t>
            </a:r>
            <a:endParaRPr lang="zh-CN" altLang="en-US" sz="16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58" name="矩形"/>
          <p:cNvSpPr>
            <a:spLocks/>
          </p:cNvSpPr>
          <p:nvPr/>
        </p:nvSpPr>
        <p:spPr>
          <a:xfrm rot="0">
            <a:off x="4526280" y="5248656"/>
            <a:ext cx="3200400" cy="10058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Background deadline scheduler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QR code resolution pages</a:t>
            </a:r>
            <a:endParaRPr lang="en-US" altLang="zh-CN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Charts for ward analytics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9" name="圆角矩形"/>
          <p:cNvSpPr>
            <a:spLocks/>
          </p:cNvSpPr>
          <p:nvPr/>
        </p:nvSpPr>
        <p:spPr>
          <a:xfrm rot="0">
            <a:off x="8000999" y="4572000"/>
            <a:ext cx="3474720" cy="164591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28600" tIns="91440" rIns="228600" bIns="9144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5EEAD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DESIGN RULE</a:t>
            </a:r>
            <a:endParaRPr lang="en-US" altLang="zh-CN" sz="1200" b="1" i="0" u="none" strike="noStrike" kern="1200" cap="none" spc="150" baseline="0">
              <a:solidFill>
                <a:srgbClr val="5EEAD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AI assesses and drafts. Rules schedule and route. Humans review. A tool is listed only once it works in the prototype.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83511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106070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Impact &amp; Users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163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Who benefits, and what changes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5" name="圆角矩形"/>
          <p:cNvSpPr>
            <a:spLocks/>
          </p:cNvSpPr>
          <p:nvPr/>
        </p:nvSpPr>
        <p:spPr>
          <a:xfrm rot="0">
            <a:off x="685800" y="1691639"/>
            <a:ext cx="2560320" cy="224028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66" name="椭圆"/>
          <p:cNvSpPr>
            <a:spLocks/>
          </p:cNvSpPr>
          <p:nvPr/>
        </p:nvSpPr>
        <p:spPr>
          <a:xfrm rot="0">
            <a:off x="850392" y="1901951"/>
            <a:ext cx="585216" cy="585216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67" name="图片" descr="Citizen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96696" y="2048255"/>
            <a:ext cx="292608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8" name="矩形"/>
          <p:cNvSpPr>
            <a:spLocks/>
          </p:cNvSpPr>
          <p:nvPr/>
        </p:nvSpPr>
        <p:spPr>
          <a:xfrm rot="0">
            <a:off x="1554480" y="1874520"/>
            <a:ext cx="1600200" cy="640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Citizens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69" name="矩形"/>
          <p:cNvSpPr>
            <a:spLocks/>
          </p:cNvSpPr>
          <p:nvPr/>
        </p:nvSpPr>
        <p:spPr>
          <a:xfrm rot="0">
            <a:off x="868680" y="2743200"/>
            <a:ext cx="2240280" cy="11887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Tamil-first reporting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Clear status and history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Evidence-backed resolution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圆角矩形"/>
          <p:cNvSpPr>
            <a:spLocks/>
          </p:cNvSpPr>
          <p:nvPr/>
        </p:nvSpPr>
        <p:spPr>
          <a:xfrm rot="0">
            <a:off x="3429000" y="1691639"/>
            <a:ext cx="2560320" cy="224028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71" name="椭圆"/>
          <p:cNvSpPr>
            <a:spLocks/>
          </p:cNvSpPr>
          <p:nvPr/>
        </p:nvSpPr>
        <p:spPr>
          <a:xfrm rot="0">
            <a:off x="3593592" y="1901951"/>
            <a:ext cx="585216" cy="585216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72" name="图片" descr="Government Department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3739896" y="2048255"/>
            <a:ext cx="292607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3" name="矩形"/>
          <p:cNvSpPr>
            <a:spLocks/>
          </p:cNvSpPr>
          <p:nvPr/>
        </p:nvSpPr>
        <p:spPr>
          <a:xfrm rot="0">
            <a:off x="4297680" y="1874520"/>
            <a:ext cx="1600200" cy="640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Government Departments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3611880" y="2743200"/>
            <a:ext cx="2240280" cy="11887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Organized work queues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Reminders and escalation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Draft work orders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圆角矩形"/>
          <p:cNvSpPr>
            <a:spLocks/>
          </p:cNvSpPr>
          <p:nvPr/>
        </p:nvSpPr>
        <p:spPr>
          <a:xfrm rot="0">
            <a:off x="6172200" y="1691639"/>
            <a:ext cx="2560319" cy="224028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76" name="椭圆"/>
          <p:cNvSpPr>
            <a:spLocks/>
          </p:cNvSpPr>
          <p:nvPr/>
        </p:nvSpPr>
        <p:spPr>
          <a:xfrm rot="0">
            <a:off x="6336792" y="1901951"/>
            <a:ext cx="585215" cy="585216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77" name="图片" descr="Local Bodi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483096" y="2048255"/>
            <a:ext cx="292607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8" name="矩形"/>
          <p:cNvSpPr>
            <a:spLocks/>
          </p:cNvSpPr>
          <p:nvPr/>
        </p:nvSpPr>
        <p:spPr>
          <a:xfrm rot="0">
            <a:off x="7040880" y="1874520"/>
            <a:ext cx="1600200" cy="640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Local Bodies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6355080" y="2743200"/>
            <a:ext cx="2240279" cy="11887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Ward-level analytics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Recurring-issue detection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Data-driven maintenance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圆角矩形"/>
          <p:cNvSpPr>
            <a:spLocks/>
          </p:cNvSpPr>
          <p:nvPr/>
        </p:nvSpPr>
        <p:spPr>
          <a:xfrm rot="0">
            <a:off x="8915400" y="1691639"/>
            <a:ext cx="2560319" cy="2240280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81" name="椭圆"/>
          <p:cNvSpPr>
            <a:spLocks/>
          </p:cNvSpPr>
          <p:nvPr/>
        </p:nvSpPr>
        <p:spPr>
          <a:xfrm rot="0">
            <a:off x="9079992" y="1901951"/>
            <a:ext cx="585215" cy="585216"/>
          </a:xfrm>
          <a:prstGeom prst="ellipse"/>
          <a:solidFill>
            <a:srgbClr val="4A86F0"/>
          </a:solidFill>
          <a:ln w="12700" cmpd="sng" cap="flat">
            <a:noFill/>
            <a:prstDash val="solid"/>
            <a:round/>
          </a:ln>
        </p:spPr>
      </p:sp>
      <p:pic>
        <p:nvPicPr>
          <p:cNvPr id="182" name="图片" descr="Community Volunteer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226296" y="2048255"/>
            <a:ext cx="292607" cy="2926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83" name="矩形"/>
          <p:cNvSpPr>
            <a:spLocks/>
          </p:cNvSpPr>
          <p:nvPr/>
        </p:nvSpPr>
        <p:spPr>
          <a:xfrm rot="0">
            <a:off x="9784080" y="1874520"/>
            <a:ext cx="1600200" cy="6400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Community Volunteers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9098280" y="2743200"/>
            <a:ext cx="2240279" cy="11887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Assisted reporting</a:t>
            </a:r>
            <a:endParaRPr lang="en-US" altLang="zh-CN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Helps residents facing digital barriers</a:t>
            </a:r>
            <a:endParaRPr lang="zh-CN" altLang="en-US" sz="15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圆角矩形"/>
          <p:cNvSpPr>
            <a:spLocks/>
          </p:cNvSpPr>
          <p:nvPr/>
        </p:nvSpPr>
        <p:spPr>
          <a:xfrm rot="0">
            <a:off x="3108960" y="4206240"/>
            <a:ext cx="8394192" cy="132588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74320" tIns="91440" rIns="274320" bIns="9144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5EEAD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EXPECTED IMPACT</a:t>
            </a:r>
            <a:endParaRPr lang="en-US" altLang="zh-CN" sz="1200" b="1" i="0" u="none" strike="noStrike" kern="1200" cap="none" spc="150" baseline="0">
              <a:solidFill>
                <a:srgbClr val="5EEAD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Better complaint traceability  •  Visibility into pending issues  •  Faster detection of overdue complaints  •  Transparent resolution verification  •  Early view of recurring civic problems</a:t>
            </a:r>
            <a:endParaRPr lang="zh-CN" altLang="en-US" sz="15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矩形"/>
          <p:cNvSpPr>
            <a:spLocks/>
          </p:cNvSpPr>
          <p:nvPr/>
        </p:nvSpPr>
        <p:spPr>
          <a:xfrm rot="0">
            <a:off x="3108960" y="5669280"/>
            <a:ext cx="8394192" cy="41148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Long-term vision: </a:t>
            </a: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 scalable accountability platform for urban and rural local bodies across Tamil Nadu.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3108960" y="6080760"/>
            <a:ext cx="8394192" cy="2743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8D99AE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Actual gains in resolution time and accountability will be measured through pilot testing.</a:t>
            </a:r>
            <a:endParaRPr lang="zh-CN" altLang="en-US" sz="1100" b="0" i="1" u="none" strike="noStrike" kern="1200" cap="none" spc="0" baseline="0">
              <a:solidFill>
                <a:srgbClr val="8D99AE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415727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85953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24-Hour Build Plan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191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 working end-to-end prototype first, optional features later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圆角矩形"/>
          <p:cNvSpPr>
            <a:spLocks/>
          </p:cNvSpPr>
          <p:nvPr/>
        </p:nvSpPr>
        <p:spPr>
          <a:xfrm rot="0">
            <a:off x="685800" y="1691639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94" name="圆角矩形"/>
          <p:cNvSpPr>
            <a:spLocks/>
          </p:cNvSpPr>
          <p:nvPr/>
        </p:nvSpPr>
        <p:spPr>
          <a:xfrm rot="0">
            <a:off x="822960" y="1828800"/>
            <a:ext cx="1005839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0–3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椭圆"/>
          <p:cNvSpPr>
            <a:spLocks/>
          </p:cNvSpPr>
          <p:nvPr/>
        </p:nvSpPr>
        <p:spPr>
          <a:xfrm rot="0">
            <a:off x="2514600" y="1828800"/>
            <a:ext cx="329183" cy="329184"/>
          </a:xfrm>
          <a:prstGeom prst="ellipse"/>
          <a:noFill/>
          <a:ln w="19050" cmpd="sng" cap="flat">
            <a:solidFill>
              <a:srgbClr val="1B2A4A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B2A4A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r>
            <a:endParaRPr lang="zh-CN" altLang="en-US" sz="1200" b="1" i="0" u="none" strike="noStrike" kern="1200" cap="none" spc="0" baseline="0">
              <a:solidFill>
                <a:srgbClr val="1B2A4A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矩形"/>
          <p:cNvSpPr>
            <a:spLocks/>
          </p:cNvSpPr>
          <p:nvPr/>
        </p:nvSpPr>
        <p:spPr>
          <a:xfrm rot="0">
            <a:off x="822960" y="2240280"/>
            <a:ext cx="2103120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Planning &amp; Design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197" name="矩形"/>
          <p:cNvSpPr>
            <a:spLocks/>
          </p:cNvSpPr>
          <p:nvPr/>
        </p:nvSpPr>
        <p:spPr>
          <a:xfrm rot="0">
            <a:off x="822960" y="2788920"/>
            <a:ext cx="2103120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1B2A4A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Finalize workflow and schema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1B2A4A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Design citizen and dashboard UI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圆角矩形"/>
          <p:cNvSpPr>
            <a:spLocks/>
          </p:cNvSpPr>
          <p:nvPr/>
        </p:nvSpPr>
        <p:spPr>
          <a:xfrm rot="0">
            <a:off x="3200400" y="1691639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199" name="圆角矩形"/>
          <p:cNvSpPr>
            <a:spLocks/>
          </p:cNvSpPr>
          <p:nvPr/>
        </p:nvSpPr>
        <p:spPr>
          <a:xfrm rot="0">
            <a:off x="3337560" y="1828800"/>
            <a:ext cx="1005839" cy="329184"/>
          </a:xfrm>
          <a:prstGeom prst="roundRect">
            <a:avLst>
              <a:gd name="adj" fmla="val 50000"/>
            </a:avLst>
          </a:prstGeom>
          <a:solidFill>
            <a:srgbClr val="233F73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3–7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椭圆"/>
          <p:cNvSpPr>
            <a:spLocks/>
          </p:cNvSpPr>
          <p:nvPr/>
        </p:nvSpPr>
        <p:spPr>
          <a:xfrm rot="0">
            <a:off x="5029200" y="1828800"/>
            <a:ext cx="329184" cy="329184"/>
          </a:xfrm>
          <a:prstGeom prst="ellipse"/>
          <a:noFill/>
          <a:ln w="19050" cmpd="sng" cap="flat">
            <a:solidFill>
              <a:srgbClr val="233F73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33F73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r>
            <a:endParaRPr lang="zh-CN" altLang="en-US" sz="1200" b="1" i="0" u="none" strike="noStrike" kern="1200" cap="none" spc="0" baseline="0">
              <a:solidFill>
                <a:srgbClr val="233F73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 rot="0">
            <a:off x="3337560" y="2240280"/>
            <a:ext cx="2103120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Core Backend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3337560" y="2788920"/>
            <a:ext cx="2103120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33F73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Complaint submission APIs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33F73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Department mapping, status history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圆角矩形"/>
          <p:cNvSpPr>
            <a:spLocks/>
          </p:cNvSpPr>
          <p:nvPr/>
        </p:nvSpPr>
        <p:spPr>
          <a:xfrm rot="0">
            <a:off x="5715000" y="1691639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04" name="圆角矩形"/>
          <p:cNvSpPr>
            <a:spLocks/>
          </p:cNvSpPr>
          <p:nvPr/>
        </p:nvSpPr>
        <p:spPr>
          <a:xfrm rot="0">
            <a:off x="5852160" y="1828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C58A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7–11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椭圆"/>
          <p:cNvSpPr>
            <a:spLocks/>
          </p:cNvSpPr>
          <p:nvPr/>
        </p:nvSpPr>
        <p:spPr>
          <a:xfrm rot="0">
            <a:off x="7543800" y="1828800"/>
            <a:ext cx="329184" cy="329184"/>
          </a:xfrm>
          <a:prstGeom prst="ellipse"/>
          <a:noFill/>
          <a:ln w="19050" cmpd="sng" cap="flat">
            <a:solidFill>
              <a:srgbClr val="2C58A0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C58A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r>
            <a:endParaRPr lang="zh-CN" altLang="en-US" sz="1200" b="1" i="0" u="none" strike="noStrike" kern="1200" cap="none" spc="0" baseline="0">
              <a:solidFill>
                <a:srgbClr val="2C58A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5852160" y="2240280"/>
            <a:ext cx="2103119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AI Integration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07" name="矩形"/>
          <p:cNvSpPr>
            <a:spLocks/>
          </p:cNvSpPr>
          <p:nvPr/>
        </p:nvSpPr>
        <p:spPr>
          <a:xfrm rot="0">
            <a:off x="5852160" y="2788920"/>
            <a:ext cx="2103119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C58A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Classification, Tamil input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C58A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Image hashing, evidence checks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圆角矩形"/>
          <p:cNvSpPr>
            <a:spLocks/>
          </p:cNvSpPr>
          <p:nvPr/>
        </p:nvSpPr>
        <p:spPr>
          <a:xfrm rot="0">
            <a:off x="8229600" y="1691639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09" name="圆角矩形"/>
          <p:cNvSpPr>
            <a:spLocks/>
          </p:cNvSpPr>
          <p:nvPr/>
        </p:nvSpPr>
        <p:spPr>
          <a:xfrm rot="0">
            <a:off x="8366760" y="1828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A72D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11–15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椭圆"/>
          <p:cNvSpPr>
            <a:spLocks/>
          </p:cNvSpPr>
          <p:nvPr/>
        </p:nvSpPr>
        <p:spPr>
          <a:xfrm rot="0">
            <a:off x="10058401" y="1828800"/>
            <a:ext cx="329184" cy="329184"/>
          </a:xfrm>
          <a:prstGeom prst="ellipse"/>
          <a:noFill/>
          <a:ln w="19050" cmpd="sng" cap="flat">
            <a:solidFill>
              <a:srgbClr val="3A72D0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3A72D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r>
            <a:endParaRPr lang="zh-CN" altLang="en-US" sz="1200" b="1" i="0" u="none" strike="noStrike" kern="1200" cap="none" spc="0" baseline="0">
              <a:solidFill>
                <a:srgbClr val="3A72D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8366760" y="2240280"/>
            <a:ext cx="2103120" cy="50292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Follow-up Workflow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12" name="矩形"/>
          <p:cNvSpPr>
            <a:spLocks/>
          </p:cNvSpPr>
          <p:nvPr/>
        </p:nvSpPr>
        <p:spPr>
          <a:xfrm rot="0">
            <a:off x="8366760" y="2788920"/>
            <a:ext cx="2103120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72D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Deadline monitoring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72D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Reminders, escalation, audit logs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圆角矩形"/>
          <p:cNvSpPr>
            <a:spLocks/>
          </p:cNvSpPr>
          <p:nvPr/>
        </p:nvSpPr>
        <p:spPr>
          <a:xfrm rot="0">
            <a:off x="685800" y="3931920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14" name="圆角矩形"/>
          <p:cNvSpPr>
            <a:spLocks/>
          </p:cNvSpPr>
          <p:nvPr/>
        </p:nvSpPr>
        <p:spPr>
          <a:xfrm rot="0">
            <a:off x="822960" y="4069080"/>
            <a:ext cx="1005839" cy="329183"/>
          </a:xfrm>
          <a:prstGeom prst="roundRect">
            <a:avLst>
              <a:gd name="adj" fmla="val 50000"/>
            </a:avLst>
          </a:prstGeom>
          <a:solidFill>
            <a:srgbClr val="4A86F0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15–19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椭圆"/>
          <p:cNvSpPr>
            <a:spLocks/>
          </p:cNvSpPr>
          <p:nvPr/>
        </p:nvSpPr>
        <p:spPr>
          <a:xfrm rot="0">
            <a:off x="2514600" y="4069080"/>
            <a:ext cx="329183" cy="329183"/>
          </a:xfrm>
          <a:prstGeom prst="ellipse"/>
          <a:noFill/>
          <a:ln w="19050" cmpd="sng" cap="flat">
            <a:solidFill>
              <a:srgbClr val="4A86F0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r>
            <a:endParaRPr lang="zh-CN" altLang="en-US" sz="12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矩形"/>
          <p:cNvSpPr>
            <a:spLocks/>
          </p:cNvSpPr>
          <p:nvPr/>
        </p:nvSpPr>
        <p:spPr>
          <a:xfrm rot="0">
            <a:off x="822960" y="4480560"/>
            <a:ext cx="2103120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Verification &amp; Dashboard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17" name="矩形"/>
          <p:cNvSpPr>
            <a:spLocks/>
          </p:cNvSpPr>
          <p:nvPr/>
        </p:nvSpPr>
        <p:spPr>
          <a:xfrm rot="0">
            <a:off x="822960" y="5029200"/>
            <a:ext cx="2103120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Before/after evidence review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A86F0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Proof page, QR, dashboard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8" name="圆角矩形"/>
          <p:cNvSpPr>
            <a:spLocks/>
          </p:cNvSpPr>
          <p:nvPr/>
        </p:nvSpPr>
        <p:spPr>
          <a:xfrm rot="0">
            <a:off x="3200400" y="3931920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19" name="圆角矩形"/>
          <p:cNvSpPr>
            <a:spLocks/>
          </p:cNvSpPr>
          <p:nvPr/>
        </p:nvSpPr>
        <p:spPr>
          <a:xfrm rot="0">
            <a:off x="3337560" y="4069080"/>
            <a:ext cx="1005839" cy="329183"/>
          </a:xfrm>
          <a:prstGeom prst="roundRect">
            <a:avLst>
              <a:gd name="adj" fmla="val 50000"/>
            </a:avLst>
          </a:prstGeom>
          <a:solidFill>
            <a:srgbClr val="2F93E6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19–22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0" name="椭圆"/>
          <p:cNvSpPr>
            <a:spLocks/>
          </p:cNvSpPr>
          <p:nvPr/>
        </p:nvSpPr>
        <p:spPr>
          <a:xfrm rot="0">
            <a:off x="5029200" y="4069080"/>
            <a:ext cx="329184" cy="329183"/>
          </a:xfrm>
          <a:prstGeom prst="ellipse"/>
          <a:noFill/>
          <a:ln w="19050" cmpd="sng" cap="flat">
            <a:solidFill>
              <a:srgbClr val="2F93E6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F93E6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r>
            <a:endParaRPr lang="zh-CN" altLang="en-US" sz="1200" b="1" i="0" u="none" strike="noStrike" kern="1200" cap="none" spc="0" baseline="0">
              <a:solidFill>
                <a:srgbClr val="2F93E6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3337560" y="4480560"/>
            <a:ext cx="2103120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Integration &amp; Testing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22" name="矩形"/>
          <p:cNvSpPr>
            <a:spLocks/>
          </p:cNvSpPr>
          <p:nvPr/>
        </p:nvSpPr>
        <p:spPr>
          <a:xfrm rot="0">
            <a:off x="3337560" y="5029200"/>
            <a:ext cx="2103120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F93E6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Valid and invalid scenarios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2F93E6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Overdue and wrong-evidence cases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3" name="圆角矩形"/>
          <p:cNvSpPr>
            <a:spLocks/>
          </p:cNvSpPr>
          <p:nvPr/>
        </p:nvSpPr>
        <p:spPr>
          <a:xfrm rot="0">
            <a:off x="5715000" y="3931920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24" name="圆角矩形"/>
          <p:cNvSpPr>
            <a:spLocks/>
          </p:cNvSpPr>
          <p:nvPr/>
        </p:nvSpPr>
        <p:spPr>
          <a:xfrm rot="0">
            <a:off x="5852160" y="4069080"/>
            <a:ext cx="1005840" cy="329183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22–24 h</a:t>
            </a:r>
            <a:endParaRPr lang="zh-CN" altLang="en-US" sz="13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椭圆"/>
          <p:cNvSpPr>
            <a:spLocks/>
          </p:cNvSpPr>
          <p:nvPr/>
        </p:nvSpPr>
        <p:spPr>
          <a:xfrm rot="0">
            <a:off x="7543800" y="4069080"/>
            <a:ext cx="329184" cy="329183"/>
          </a:xfrm>
          <a:prstGeom prst="ellipse"/>
          <a:noFill/>
          <a:ln w="19050" cmpd="sng" cap="flat">
            <a:solidFill>
              <a:srgbClr val="0E8A7D"/>
            </a:solidFill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0E8A7D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r>
            <a:endParaRPr lang="zh-CN" altLang="en-US" sz="1200" b="1" i="0" u="none" strike="noStrike" kern="1200" cap="none" spc="0" baseline="0">
              <a:solidFill>
                <a:srgbClr val="0E8A7D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5852160" y="4480560"/>
            <a:ext cx="2103119" cy="50291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Final Demo</a:t>
            </a:r>
            <a:endParaRPr lang="zh-CN" altLang="en-US" sz="15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5852160" y="5029200"/>
            <a:ext cx="2103119" cy="914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E8A7D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End-to-end demonstration</a:t>
            </a:r>
            <a:endParaRPr lang="en-US" altLang="zh-CN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E8A7D"/>
              </a:buClr>
              <a:buFont typeface="Arial" pitchFamily="34" charset="0"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Pitch, limitations, next steps</a:t>
            </a:r>
            <a:endParaRPr lang="zh-CN" altLang="en-US" sz="13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圆角矩形"/>
          <p:cNvSpPr>
            <a:spLocks/>
          </p:cNvSpPr>
          <p:nvPr/>
        </p:nvSpPr>
        <p:spPr>
          <a:xfrm rot="0">
            <a:off x="8229600" y="3931920"/>
            <a:ext cx="2331720" cy="2057399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28600" tIns="137160" rIns="228600" bIns="13716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5EEAD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PRIORITY</a:t>
            </a:r>
            <a:endParaRPr lang="en-US" altLang="zh-CN" sz="1200" b="1" i="0" u="none" strike="noStrike" kern="1200" cap="none" spc="150" baseline="0">
              <a:solidFill>
                <a:srgbClr val="5EEAD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 working end-to-end prototype before any optional feature.</a:t>
            </a:r>
            <a:endParaRPr lang="zh-CN" altLang="en-US" sz="16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904277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文本框"/>
          <p:cNvSpPr>
            <a:spLocks noGrp="1"/>
          </p:cNvSpPr>
          <p:nvPr>
            <p:ph type="title"/>
          </p:nvPr>
        </p:nvSpPr>
        <p:spPr>
          <a:xfrm rot="0">
            <a:off x="685800" y="502919"/>
            <a:ext cx="106070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 Light" pitchFamily="0" charset="0"/>
                <a:cs typeface="Lucida Sans"/>
              </a:rPr>
              <a:t>Challenges &amp; Team Strengths</a:t>
            </a:r>
            <a:endParaRPr lang="zh-CN" altLang="en-US" sz="32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232" name="文本框"/>
          <p:cNvSpPr>
            <a:spLocks noGrp="1"/>
          </p:cNvSpPr>
          <p:nvPr>
            <p:ph type="sldNum"/>
          </p:nvPr>
        </p:nvSpPr>
        <p:spPr>
          <a:xfrm rot="0">
            <a:off x="11292840" y="6400800"/>
            <a:ext cx="548639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1" i="0" u="none" strike="noStrike" kern="1200" cap="none" spc="0" baseline="0">
                <a:solidFill>
                  <a:srgbClr val="3AA0F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100" b="0" i="0" u="none" strike="noStrike" kern="1200" cap="none" spc="0" baseline="0">
              <a:solidFill>
                <a:srgbClr val="3AA0F5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3" name="矩形"/>
          <p:cNvSpPr>
            <a:spLocks/>
          </p:cNvSpPr>
          <p:nvPr/>
        </p:nvSpPr>
        <p:spPr>
          <a:xfrm rot="0">
            <a:off x="685800" y="1115568"/>
            <a:ext cx="9601200" cy="384048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A86F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Known risks, planned mitigations and the team behind them</a:t>
            </a:r>
            <a:endParaRPr lang="zh-CN" altLang="en-US" sz="1800" b="1" i="0" u="none" strike="noStrike" kern="1200" cap="none" spc="0" baseline="0">
              <a:solidFill>
                <a:srgbClr val="4A86F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矩形"/>
          <p:cNvSpPr>
            <a:spLocks/>
          </p:cNvSpPr>
          <p:nvPr/>
        </p:nvSpPr>
        <p:spPr>
          <a:xfrm rot="0">
            <a:off x="685800" y="1691639"/>
            <a:ext cx="2286000" cy="384048"/>
          </a:xfrm>
          <a:prstGeom prst="rect"/>
          <a:solidFill>
            <a:srgbClr val="1B2A4A"/>
          </a:solidFill>
          <a:ln w="12700" cmpd="sng" cap="flat">
            <a:noFill/>
            <a:prstDash val="solid"/>
            <a:round/>
          </a:ln>
        </p:spPr>
        <p:txBody>
          <a:bodyPr vert="horz" wrap="square" lIns="137160" tIns="0" rIns="9144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10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CHALLENGE</a:t>
            </a:r>
            <a:endParaRPr lang="zh-CN" altLang="en-US" sz="1200" b="1" i="0" u="none" strike="noStrike" kern="1200" cap="none" spc="10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5" name="矩形"/>
          <p:cNvSpPr>
            <a:spLocks/>
          </p:cNvSpPr>
          <p:nvPr/>
        </p:nvSpPr>
        <p:spPr>
          <a:xfrm rot="0">
            <a:off x="2971799" y="1691639"/>
            <a:ext cx="4069079" cy="384048"/>
          </a:xfrm>
          <a:prstGeom prst="rect"/>
          <a:solidFill>
            <a:srgbClr val="1B2A4A"/>
          </a:solidFill>
          <a:ln w="12700" cmpd="sng" cap="flat">
            <a:noFill/>
            <a:prstDash val="solid"/>
            <a:round/>
          </a:ln>
        </p:spPr>
        <p:txBody>
          <a:bodyPr vert="horz" wrap="square" lIns="137160" tIns="0" rIns="9144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10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MITIGATION</a:t>
            </a:r>
            <a:endParaRPr lang="zh-CN" altLang="en-US" sz="1200" b="1" i="0" u="none" strike="noStrike" kern="1200" cap="none" spc="10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685800" y="2075688"/>
            <a:ext cx="6355080" cy="530352"/>
          </a:xfrm>
          <a:prstGeom prst="rect"/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37" name="矩形"/>
          <p:cNvSpPr>
            <a:spLocks/>
          </p:cNvSpPr>
          <p:nvPr/>
        </p:nvSpPr>
        <p:spPr>
          <a:xfrm rot="0">
            <a:off x="822960" y="2075688"/>
            <a:ext cx="2103120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AI Accuracy</a:t>
            </a:r>
            <a:endParaRPr lang="zh-CN" altLang="en-US" sz="14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3108960" y="2075688"/>
            <a:ext cx="3840479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Confidence thresholds, rule-based checks, human review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9" name="矩形"/>
          <p:cNvSpPr>
            <a:spLocks/>
          </p:cNvSpPr>
          <p:nvPr/>
        </p:nvSpPr>
        <p:spPr>
          <a:xfrm rot="0">
            <a:off x="685800" y="2606040"/>
            <a:ext cx="6355080" cy="530352"/>
          </a:xfrm>
          <a:prstGeom prst="rect"/>
          <a:solidFill>
            <a:srgbClr val="FFFFFF"/>
          </a:solidFill>
          <a:ln w="12700" cmpd="sng" cap="flat">
            <a:noFill/>
            <a:prstDash val="solid"/>
            <a:round/>
          </a:ln>
        </p:spPr>
      </p:sp>
      <p:sp>
        <p:nvSpPr>
          <p:cNvPr id="240" name="矩形"/>
          <p:cNvSpPr>
            <a:spLocks/>
          </p:cNvSpPr>
          <p:nvPr/>
        </p:nvSpPr>
        <p:spPr>
          <a:xfrm rot="0">
            <a:off x="822960" y="2606040"/>
            <a:ext cx="2103120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Jurisdiction Mapping</a:t>
            </a:r>
            <a:endParaRPr lang="zh-CN" altLang="en-US" sz="14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41" name="矩形"/>
          <p:cNvSpPr>
            <a:spLocks/>
          </p:cNvSpPr>
          <p:nvPr/>
        </p:nvSpPr>
        <p:spPr>
          <a:xfrm rot="0">
            <a:off x="3108960" y="2606040"/>
            <a:ext cx="3840479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Maintained pilot-area department mapping table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2" name="矩形"/>
          <p:cNvSpPr>
            <a:spLocks/>
          </p:cNvSpPr>
          <p:nvPr/>
        </p:nvSpPr>
        <p:spPr>
          <a:xfrm rot="0">
            <a:off x="685800" y="3136392"/>
            <a:ext cx="6355080" cy="530352"/>
          </a:xfrm>
          <a:prstGeom prst="rect"/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43" name="矩形"/>
          <p:cNvSpPr>
            <a:spLocks/>
          </p:cNvSpPr>
          <p:nvPr/>
        </p:nvSpPr>
        <p:spPr>
          <a:xfrm rot="0">
            <a:off x="822960" y="3136392"/>
            <a:ext cx="2103120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Government Integration</a:t>
            </a:r>
            <a:endParaRPr lang="zh-CN" altLang="en-US" sz="14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3108960" y="3136392"/>
            <a:ext cx="3840479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Simulated notifications and escalation records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5" name="矩形"/>
          <p:cNvSpPr>
            <a:spLocks/>
          </p:cNvSpPr>
          <p:nvPr/>
        </p:nvSpPr>
        <p:spPr>
          <a:xfrm rot="0">
            <a:off x="685800" y="3666744"/>
            <a:ext cx="6355080" cy="530352"/>
          </a:xfrm>
          <a:prstGeom prst="rect"/>
          <a:solidFill>
            <a:srgbClr val="FFFFFF"/>
          </a:solidFill>
          <a:ln w="12700" cmpd="sng" cap="flat">
            <a:noFill/>
            <a:prstDash val="solid"/>
            <a:round/>
          </a:ln>
        </p:spPr>
      </p:sp>
      <p:sp>
        <p:nvSpPr>
          <p:cNvPr id="246" name="矩形"/>
          <p:cNvSpPr>
            <a:spLocks/>
          </p:cNvSpPr>
          <p:nvPr/>
        </p:nvSpPr>
        <p:spPr>
          <a:xfrm rot="0">
            <a:off x="822960" y="3666744"/>
            <a:ext cx="2103120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Privacy &amp; Security</a:t>
            </a:r>
            <a:endParaRPr lang="zh-CN" altLang="en-US" sz="14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47" name="矩形"/>
          <p:cNvSpPr>
            <a:spLocks/>
          </p:cNvSpPr>
          <p:nvPr/>
        </p:nvSpPr>
        <p:spPr>
          <a:xfrm rot="0">
            <a:off x="3108960" y="3666744"/>
            <a:ext cx="3840479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Login, role-based access, privacy-aware pages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矩形"/>
          <p:cNvSpPr>
            <a:spLocks/>
          </p:cNvSpPr>
          <p:nvPr/>
        </p:nvSpPr>
        <p:spPr>
          <a:xfrm rot="0">
            <a:off x="685800" y="4197096"/>
            <a:ext cx="6355080" cy="530352"/>
          </a:xfrm>
          <a:prstGeom prst="rect"/>
          <a:solidFill>
            <a:srgbClr val="EEF6FD"/>
          </a:solidFill>
          <a:ln w="12700" cmpd="sng" cap="flat">
            <a:noFill/>
            <a:prstDash val="solid"/>
            <a:round/>
          </a:ln>
        </p:spPr>
      </p:sp>
      <p:sp>
        <p:nvSpPr>
          <p:cNvPr id="249" name="矩形"/>
          <p:cNvSpPr>
            <a:spLocks/>
          </p:cNvSpPr>
          <p:nvPr/>
        </p:nvSpPr>
        <p:spPr>
          <a:xfrm rot="0">
            <a:off x="822960" y="4197096"/>
            <a:ext cx="2103120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220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Time Constraints</a:t>
            </a:r>
            <a:endParaRPr lang="zh-CN" altLang="en-US" sz="1400" b="1" i="0" u="none" strike="noStrike" kern="1200" cap="none" spc="0" baseline="0">
              <a:solidFill>
                <a:srgbClr val="0B1220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3108960" y="4197096"/>
            <a:ext cx="3840479" cy="53035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33415C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Prioritize report, route, escalate, verify, dashboard</a:t>
            </a:r>
            <a:endParaRPr lang="zh-CN" altLang="en-US" sz="1400" b="0" i="0" u="none" strike="noStrike" kern="1200" cap="none" spc="0" baseline="0">
              <a:solidFill>
                <a:srgbClr val="33415C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1" name="圆角矩形"/>
          <p:cNvSpPr>
            <a:spLocks/>
          </p:cNvSpPr>
          <p:nvPr/>
        </p:nvSpPr>
        <p:spPr>
          <a:xfrm rot="0">
            <a:off x="7360919" y="1691639"/>
            <a:ext cx="4114799" cy="292608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</p:sp>
      <p:sp>
        <p:nvSpPr>
          <p:cNvPr id="252" name="矩形"/>
          <p:cNvSpPr>
            <a:spLocks/>
          </p:cNvSpPr>
          <p:nvPr/>
        </p:nvSpPr>
        <p:spPr>
          <a:xfrm rot="0">
            <a:off x="7635240" y="1783080"/>
            <a:ext cx="3566159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0" charset="0"/>
                <a:ea typeface="等线" pitchFamily="0" charset="0"/>
                <a:cs typeface="Cambria" pitchFamily="0" charset="0"/>
              </a:rPr>
              <a:t>Team Strengths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Cambria" pitchFamily="0" charset="0"/>
              <a:ea typeface="等线" pitchFamily="0" charset="0"/>
              <a:cs typeface="Cambria" pitchFamily="0" charset="0"/>
            </a:endParaRPr>
          </a:p>
        </p:txBody>
      </p:sp>
      <p:sp>
        <p:nvSpPr>
          <p:cNvPr id="253" name="椭圆"/>
          <p:cNvSpPr>
            <a:spLocks/>
          </p:cNvSpPr>
          <p:nvPr/>
        </p:nvSpPr>
        <p:spPr>
          <a:xfrm rot="0">
            <a:off x="7635240" y="2377440"/>
            <a:ext cx="274319" cy="274319"/>
          </a:xfrm>
          <a:prstGeom prst="ellipse"/>
          <a:solidFill>
            <a:srgbClr val="5EEADC"/>
          </a:solidFill>
          <a:ln w="12700" cmpd="sng" cap="flat">
            <a:noFill/>
            <a:prstDash val="solid"/>
            <a:round/>
          </a:ln>
        </p:spPr>
      </p:sp>
      <p:pic>
        <p:nvPicPr>
          <p:cNvPr id="254" name="图片" descr="Check mark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703819" y="2446020"/>
            <a:ext cx="137159" cy="1371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55" name="矩形"/>
          <p:cNvSpPr>
            <a:spLocks/>
          </p:cNvSpPr>
          <p:nvPr/>
        </p:nvSpPr>
        <p:spPr>
          <a:xfrm rot="0">
            <a:off x="8046719" y="2331720"/>
            <a:ext cx="3337559" cy="36576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AI/ML and computer vision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6" name="椭圆"/>
          <p:cNvSpPr>
            <a:spLocks/>
          </p:cNvSpPr>
          <p:nvPr/>
        </p:nvSpPr>
        <p:spPr>
          <a:xfrm rot="0">
            <a:off x="7635240" y="2816352"/>
            <a:ext cx="274319" cy="274320"/>
          </a:xfrm>
          <a:prstGeom prst="ellipse"/>
          <a:solidFill>
            <a:srgbClr val="5EEADC"/>
          </a:solidFill>
          <a:ln w="12700" cmpd="sng" cap="flat">
            <a:noFill/>
            <a:prstDash val="solid"/>
            <a:round/>
          </a:ln>
        </p:spPr>
      </p:sp>
      <p:pic>
        <p:nvPicPr>
          <p:cNvPr id="257" name="图片" descr="Check mark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7703819" y="2884932"/>
            <a:ext cx="137159" cy="1371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58" name="矩形"/>
          <p:cNvSpPr>
            <a:spLocks/>
          </p:cNvSpPr>
          <p:nvPr/>
        </p:nvSpPr>
        <p:spPr>
          <a:xfrm rot="0">
            <a:off x="8046719" y="2770632"/>
            <a:ext cx="3337559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Full-stack development and APIs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椭圆"/>
          <p:cNvSpPr>
            <a:spLocks/>
          </p:cNvSpPr>
          <p:nvPr/>
        </p:nvSpPr>
        <p:spPr>
          <a:xfrm rot="0">
            <a:off x="7635240" y="3255264"/>
            <a:ext cx="274319" cy="274320"/>
          </a:xfrm>
          <a:prstGeom prst="ellipse"/>
          <a:solidFill>
            <a:srgbClr val="5EEADC"/>
          </a:solidFill>
          <a:ln w="12700" cmpd="sng" cap="flat">
            <a:noFill/>
            <a:prstDash val="solid"/>
            <a:round/>
          </a:ln>
        </p:spPr>
      </p:sp>
      <p:pic>
        <p:nvPicPr>
          <p:cNvPr id="260" name="图片" descr="Check mark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7703819" y="3323844"/>
            <a:ext cx="137159" cy="1371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1" name="矩形"/>
          <p:cNvSpPr>
            <a:spLocks/>
          </p:cNvSpPr>
          <p:nvPr/>
        </p:nvSpPr>
        <p:spPr>
          <a:xfrm rot="0">
            <a:off x="8046719" y="3209543"/>
            <a:ext cx="3337559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Agentic workflow design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椭圆"/>
          <p:cNvSpPr>
            <a:spLocks/>
          </p:cNvSpPr>
          <p:nvPr/>
        </p:nvSpPr>
        <p:spPr>
          <a:xfrm rot="0">
            <a:off x="7635240" y="3694176"/>
            <a:ext cx="274319" cy="274320"/>
          </a:xfrm>
          <a:prstGeom prst="ellipse"/>
          <a:solidFill>
            <a:srgbClr val="5EEADC"/>
          </a:solidFill>
          <a:ln w="12700" cmpd="sng" cap="flat">
            <a:noFill/>
            <a:prstDash val="solid"/>
            <a:round/>
          </a:ln>
        </p:spPr>
      </p:sp>
      <p:pic>
        <p:nvPicPr>
          <p:cNvPr id="263" name="图片" descr="Check mark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7703819" y="3762756"/>
            <a:ext cx="137159" cy="1371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4" name="矩形"/>
          <p:cNvSpPr>
            <a:spLocks/>
          </p:cNvSpPr>
          <p:nvPr/>
        </p:nvSpPr>
        <p:spPr>
          <a:xfrm rot="0">
            <a:off x="8046719" y="3648456"/>
            <a:ext cx="3337559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Data visualization and geo analytics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5" name="椭圆"/>
          <p:cNvSpPr>
            <a:spLocks/>
          </p:cNvSpPr>
          <p:nvPr/>
        </p:nvSpPr>
        <p:spPr>
          <a:xfrm rot="0">
            <a:off x="7635240" y="4133088"/>
            <a:ext cx="274319" cy="274320"/>
          </a:xfrm>
          <a:prstGeom prst="ellipse"/>
          <a:solidFill>
            <a:srgbClr val="5EEADC"/>
          </a:solidFill>
          <a:ln w="12700" cmpd="sng" cap="flat">
            <a:noFill/>
            <a:prstDash val="solid"/>
            <a:round/>
          </a:ln>
        </p:spPr>
      </p:sp>
      <p:pic>
        <p:nvPicPr>
          <p:cNvPr id="266" name="图片" descr="Check mark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7703819" y="4201668"/>
            <a:ext cx="137159" cy="1371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7" name="矩形"/>
          <p:cNvSpPr>
            <a:spLocks/>
          </p:cNvSpPr>
          <p:nvPr/>
        </p:nvSpPr>
        <p:spPr>
          <a:xfrm rot="0">
            <a:off x="8046719" y="4087368"/>
            <a:ext cx="3337559" cy="36575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Rapid prototyping and testing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8" name="圆角矩形"/>
          <p:cNvSpPr>
            <a:spLocks/>
          </p:cNvSpPr>
          <p:nvPr/>
        </p:nvSpPr>
        <p:spPr>
          <a:xfrm rot="0">
            <a:off x="3108960" y="5074920"/>
            <a:ext cx="8394192" cy="1143000"/>
          </a:xfrm>
          <a:prstGeom prst="roundRect">
            <a:avLst>
              <a:gd name="adj" fmla="val 9000"/>
            </a:avLst>
          </a:prstGeom>
          <a:solidFill>
            <a:srgbClr val="4A86F0"/>
          </a:solidFill>
          <a:ln w="12700" cmpd="sng" cap="flat">
            <a:noFill/>
            <a:prstDash val="solid"/>
            <a:round/>
          </a:ln>
          <a:effectLst>
            <a:outerShdw sx="100000" sy="100000" algn="t" rotWithShape="0" blurRad="63500" dist="19050" dir="5400000">
              <a:srgbClr val="0B1220">
                <a:alpha val="13725"/>
              </a:srgbClr>
            </a:outerShdw>
          </a:effectLst>
        </p:spPr>
        <p:txBody>
          <a:bodyPr vert="horz" wrap="square" lIns="274320" tIns="91440" rIns="274320" bIns="9144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zh-CN" sz="1200" b="1" i="0" u="none" strike="noStrike" kern="1200" cap="none" spc="15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OUR GOAL</a:t>
            </a:r>
            <a:endParaRPr lang="en-US" altLang="zh-CN" sz="1200" b="1" i="0" u="none" strike="noStrike" kern="1200" cap="none" spc="15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 practical, transparent and scalable prototype that helps communities move from reporting civic issues to verifying their resolution.</a:t>
            </a:r>
            <a:endParaRPr lang="zh-CN" altLang="en-US" sz="1600" b="1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0050"/>
      </p:ext>
    </p:extLst>
  </p:cSld>
  <p:clrMapOvr>
    <a:masterClrMapping/>
  </p:clrMapOvr>
</p:sld>
</file>

<file path=ppt/theme/theme1.xml><?xml version="1.0" encoding="utf-8"?>
<a:theme xmlns:a="http://schemas.openxmlformats.org/drawingml/2006/main" name="Cybernaut Pitch">
  <a:themeElements>
    <a:clrScheme name="Cybernaut Pitch">
      <a:dk1>
        <a:srgbClr val="0B1220"/>
      </a:dk1>
      <a:lt1>
        <a:srgbClr val="FFFFFF"/>
      </a:lt1>
      <a:dk2>
        <a:srgbClr val="1B2A4A"/>
      </a:dk2>
      <a:lt2>
        <a:srgbClr val="EEF6FD"/>
      </a:lt2>
      <a:accent1>
        <a:srgbClr val="3AA0F5"/>
      </a:accent1>
      <a:accent2>
        <a:srgbClr val="14D8F7"/>
      </a:accent2>
      <a:accent3>
        <a:srgbClr val="5EEADC"/>
      </a:accent3>
      <a:accent4>
        <a:srgbClr val="4A86F0"/>
      </a:accent4>
      <a:accent5>
        <a:srgbClr val="8D99AE"/>
      </a:accent5>
      <a:accent6>
        <a:srgbClr val="1B2A4A"/>
      </a:accent6>
      <a:hlink>
        <a:srgbClr val="3AA0F5"/>
      </a:hlink>
      <a:folHlink>
        <a:srgbClr val="8D99AE"/>
      </a:folHlink>
    </a:clrScheme>
    <a:fontScheme name="Cybernaut Pitc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ybernaut Pitch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B1220"/>
      </a:dk1>
      <a:lt1>
        <a:srgbClr val="FFFFFF"/>
      </a:lt1>
      <a:dk2>
        <a:srgbClr val="1B2A4A"/>
      </a:dk2>
      <a:lt2>
        <a:srgbClr val="EEF6FD"/>
      </a:lt2>
      <a:accent1>
        <a:srgbClr val="3AA0F5"/>
      </a:accent1>
      <a:accent2>
        <a:srgbClr val="14D8F7"/>
      </a:accent2>
      <a:accent3>
        <a:srgbClr val="5EEADC"/>
      </a:accent3>
      <a:accent4>
        <a:srgbClr val="4A86F0"/>
      </a:accent4>
      <a:accent5>
        <a:srgbClr val="8D99AE"/>
      </a:accent5>
      <a:accent6>
        <a:srgbClr val="1B2A4A"/>
      </a:accent6>
      <a:hlink>
        <a:srgbClr val="3AA0F5"/>
      </a:hlink>
      <a:folHlink>
        <a:srgbClr val="8D99AE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0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Hackathon Idea Pitch Template</dc:title>
  <dc:subject>PptxGenJS Presentation</dc:subject>
  <dc:creator>PptxGenJS</dc:creator>
  <cp:lastModifiedBy>root</cp:lastModifiedBy>
  <cp:revision>1</cp:revision>
  <dcterms:created xsi:type="dcterms:W3CDTF">2026-10-28T15:56:59Z</dcterms:created>
  <dcterms:modified xsi:type="dcterms:W3CDTF">2026-10-30T02:33:52Z</dcterms:modified>
</cp:coreProperties>
</file>